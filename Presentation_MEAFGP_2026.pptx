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046720" cy="3931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685800"/>
            <a:ext cx="3474720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85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UNIVERSITÉ SORBONNE PARIS NORD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UFR SEG — Master MBFA-IFIM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Portefeuilles 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Moyenne-Variance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Modèle de Marché — FTSE 100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3218688"/>
            <a:ext cx="2743200" cy="3657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Encadrante : Mme Nathalie REY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393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Traore Sory Ibrahim  ·  GMIRA Amine  ·  BELLILI Ilian  ·  BRADAI Selim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Date de rendu : Mi-avril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M1 MBFA — Année universitaire 2025-2026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— PLAN DE LA PRÉSENTATION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8404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Introduction et présentation des données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72821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Base de données FTSE 100 — 2 507 observations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94560"/>
            <a:ext cx="384048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24028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Statistiques descriptives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59689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Profil risque/rendement — Matrice de corrélation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38404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10896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Approche Moyenne-Variance — Markowitz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46557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Frontière efficiente — Choix du PMin — CML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31920"/>
            <a:ext cx="384048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3192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Modèle de Marché — Sharpe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33425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Régressions OLS — Méthode Elton-Gruber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3258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325880"/>
            <a:ext cx="38404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2588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3716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Sélection &amp; justification des portefeuilles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172821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PMin Markowitz vs Sharpe Optimal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1945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194560"/>
            <a:ext cx="384048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945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224028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Performances historiques 2013–2022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59689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Ratio de Sharpe — VL base 100 — Drawdown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063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063240"/>
            <a:ext cx="38404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632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03520" y="310896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Suivi de performance — Mars 2026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346557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741"/>
                </a:solidFill>
              </a:rPr>
              <a:t>Contexte de marché — Résultats hebdomadaires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— INTRODUCTION ET PRÉSENTATION DES DONNÉES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— 10 actions du FTSE 100 (2013–2022)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44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2 507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Séances de bourse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29844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344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10 ans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1892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Période d'analyse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29844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1344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1,42%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34840" y="1892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Rf annuel (UK Gilt 10Y)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29844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344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1892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Actions FTSE 100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260604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1600200"/>
                <a:gridCol w="822960"/>
                <a:gridCol w="822960"/>
              </a:tblGrid>
              <a:tr h="2369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Code 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Société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Secteur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μ_a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σ_a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NWG.L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NatWest Group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Banque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−2,30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34,75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PHNX.L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Phoenix Group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Assurance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+3,75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24,93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DGE.L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Diageo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Boissons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+6,94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20,34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ABF.L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Assoc. Brit. Foods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Agroalimentaire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+0,02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27,84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IMB.L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Imperial Brands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Tabac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−1,51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23,54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RR.L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Rolls-Royce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Aérospatiale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−10,88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45,58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RTO.L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Rentokil Initial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Services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+16,52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24,13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GLEN.L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Glencore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Mat. premières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+3,83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43,84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BDEV.L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Barratt Dev.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Immobilier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+6,43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36,52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KGF.L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Kingfisher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Distribution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−1,92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1B"/>
                          </a:solidFill>
                        </a:rPr>
                        <a:t>30,33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— STATISTIQUES DESCRIPTIVES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risque/rendement annualisé des 10 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Rentokil +16,5%/an · Rolls-Royce σ=45,6%/an · Diversification inter-secteurs nécessaire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— STATISTIQUES DESCRIPTIVES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corrélation des rendements journaliers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Observations clés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1783080"/>
            <a:ext cx="3291840" cy="713232"/>
          </a:xfrm>
          <a:prstGeom prst="rect">
            <a:avLst/>
          </a:prstGeom>
          <a:solidFill>
            <a:srgbClr val="C8E6C9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1819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0,13–0,49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2103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</a:rPr>
              <a:t>Corrélations modérées → forte marge de diversification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587752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624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0,49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3560" y="29077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</a:rPr>
              <a:t>Plus forte corrélation : NatWest ↔ Phoenix (banque/assurance)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392424"/>
            <a:ext cx="3291840" cy="713232"/>
          </a:xfrm>
          <a:prstGeom prst="rect">
            <a:avLst/>
          </a:prstGeom>
          <a:solidFill>
            <a:srgbClr val="C8E6C9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429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0,13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23560" y="37124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</a:rPr>
              <a:t>Plus faible : NatWest ↔ Rentokil (secteurs non corrélés)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4197096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4233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Toutes &gt; 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4517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</a:rPr>
              <a:t>Corrélations positives → risque systémique résiduel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— APPROCHE MOYENNE-VARIANCE — MARKOWITZ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efficiente &amp; Droite de Marché des Capitaux (CML)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4864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261872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Programme d'optimisation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1664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wᵀΩw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s.c.  1ᵀw =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359152"/>
            <a:ext cx="274320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Portefeuilles clés 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35040" y="27614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◆ PMin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95160" y="2761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</a:rPr>
              <a:t>E = 5,27%/an · σ = 15,54%/an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32644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★ Tangent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95160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</a:rPr>
              <a:t>Maximum Sharpe ratio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37673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Rf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9516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</a:rPr>
              <a:t>Actif sans risque = 1,42%/an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42702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CML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4270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</a:rPr>
              <a:t>E[Rp] = 1,42% + Pente·σp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CML (Tobin, 1958) : tout investisseur optimal combine l'actif sans risque et le portefeuille tangent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— APPROCHE MARKOWITZ — PORTEFEUILLE RETENU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de Variance Minimale (PMin) — Pourquoi ce choix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457200" cy="16642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57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43560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Solution unique &amp; objective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837944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Le PMin est le seul portefeuille sur la frontière ne nécessitant aucune hypothèse sur μ cible. wₚₘᵢₙ = Ω⁻¹1 / (1ᵀΩ⁻¹1)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457200" cy="16642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25880"/>
            <a:ext cx="457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85232" y="143560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Robustesse aux erreurs d'estimation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837944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Les μᵢ sont très bruités. Le PMin dépend uniquement de Ω — beaucoup plus stable que le portefeuille tangent (garbage in/out).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457200" cy="16642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457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" y="326440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Diversification maximale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666744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σₚ = 15,54%/an &lt; σ(FTSE 100) = 15,96%/an. 7 titres de secteurs distincts. La diversification réduit effectivement le risque.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457200" cy="16642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457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85232" y="326440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Cohérence avec la méthode du cours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3666744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</a:rPr>
              <a:t>Calculé analytiquement dans la feuille Markowitz du fichier Excel, conformément à la méthode de la professeure.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MVP : E(Rp) = 5,27%/an  ·  σ = 15,54%/an  ·  Sharpe = 0,248  ·  Total +49,8%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— MODÈLE DE MARCHÉ — SHARPE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des paramètres — Bêtas &amp; R²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55 params  ·  Markowitz (Ω complète)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4663440"/>
            <a:ext cx="256032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21 params  ·  Sharpe (factoriel)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4663440"/>
            <a:ext cx="25603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2,52%/an  ·  Variance marché σ²ₘ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— MODÈLE DE SHARPE — PORTEFEUILLE OPTIMAL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Elton-Gruber : Sélection par ratio de Treynor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389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Méthode Elton-Gruber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810512"/>
            <a:ext cx="4206240" cy="56692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1051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B"/>
                </a:solidFill>
              </a:rPr>
              <a:t>① Classer les titres par Tᵢ = (E[Rᵢ]−Rf)/βᵢ décroissant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468880"/>
            <a:ext cx="4206240" cy="566928"/>
          </a:xfrm>
          <a:prstGeom prst="rect">
            <a:avLst/>
          </a:prstGeom>
          <a:solidFill>
            <a:srgbClr val="F8FFF8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688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B"/>
                </a:solidFill>
              </a:rPr>
              <a:t>② Calculer le seuil optimal C* = max(Cₖ)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127248"/>
            <a:ext cx="4206240" cy="56692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27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B"/>
                </a:solidFill>
              </a:rPr>
              <a:t>③ Inclure le titre i si Tᵢ &gt; C*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785616"/>
            <a:ext cx="4206240" cy="566928"/>
          </a:xfrm>
          <a:prstGeom prst="rect">
            <a:avLst/>
          </a:prstGeom>
          <a:solidFill>
            <a:srgbClr val="F8FFF8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8561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B"/>
                </a:solidFill>
              </a:rPr>
              <a:t>④ Calculer les poids : zᵢ = (βᵢ/σ²εᵢ)·(Tᵢ−C*)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298448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Résultats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56048" y="1810512"/>
            <a:ext cx="37947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8105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Seuil  C* = 0,054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2404872"/>
            <a:ext cx="37947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404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B"/>
                </a:solidFill>
              </a:rPr>
              <a:t>1. Rentokil Initial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404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741"/>
                </a:solidFill>
              </a:rPr>
              <a:t>T = 0,210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63840" y="2404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56048" y="2935224"/>
            <a:ext cx="37947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9352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B"/>
                </a:solidFill>
              </a:rPr>
              <a:t>2. Diageo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9352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741"/>
                </a:solidFill>
              </a:rPr>
              <a:t>T = 0,066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0" y="29352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56048" y="3465576"/>
            <a:ext cx="37947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4655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B"/>
                </a:solidFill>
              </a:rPr>
              <a:t>3. Barratt Dev.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34655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741"/>
                </a:solidFill>
              </a:rPr>
              <a:t>T = 0,043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63840" y="34655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56048" y="3995928"/>
            <a:ext cx="37947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995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B"/>
                </a:solidFill>
              </a:rPr>
              <a:t>4. Phoenix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3995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741"/>
                </a:solidFill>
              </a:rPr>
              <a:t>T = 0,025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0" y="3995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Sharpe Optimal : Rentokil 85,13% + Diageo 14,87%  ·  E=15,24%/an  ·  σ=22,07%/an  ·  Sharpe=0,626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— SÉLECTION ET JUSTIFICATION DES DEUX PORTEFEUILLES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des portefeuilles retenus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859536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66344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63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MVP : 7 titres — 6 secteurs — volatilité inférieure au FTSE 100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4663440"/>
            <a:ext cx="416052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663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Sharpe Optimal : 2 titres — fort alpha positif — Treynor &gt; C*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— PERFORMANCES HISTORIQUES 2013–2022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performances — VL Base 100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199339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+5,27%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6C9"/>
                </a:solidFill>
              </a:rPr>
              <a:t>MVP — Rendement annualisé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261872"/>
            <a:ext cx="1993392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26187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+15,24%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6C9"/>
                </a:solidFill>
              </a:rPr>
              <a:t>Sharpe — Rendement annualisé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261872"/>
            <a:ext cx="1993392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26187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0,626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16642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6C9"/>
                </a:solidFill>
              </a:rPr>
              <a:t>Sharpe — Ratio de Sharpe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03136" y="1261872"/>
            <a:ext cx="1993392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26187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+257%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03136" y="16642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6C9"/>
                </a:solidFill>
              </a:rPr>
              <a:t>Sharpe — Rendement total 10 ans</a:t>
            </a:r>
            <a:endParaRPr lang="en-US" sz="8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0"/>
            <a:ext cx="8595360" cy="285292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1€ investi (jan. 2013) → 3,57€ (Sharpe Opt.) · 1,50€ (MVP) · 1,09€ (FTSE 100) · Biais in-sample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 — SUIVI DE PERFORMANCE — MARS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hebdomadaire — Mars 2026 (base 100 = 27 fév. 2026)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5486400" cy="33832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98448"/>
          <a:ext cx="2971800" cy="3337560"/>
        </p:xfrm>
        <a:graphic>
          <a:graphicData uri="http://schemas.openxmlformats.org/drawingml/2006/table">
            <a:tbl>
              <a:tblPr/>
              <a:tblGrid>
                <a:gridCol w="1097280"/>
                <a:gridCol w="621792"/>
                <a:gridCol w="621792"/>
                <a:gridCol w="621792"/>
              </a:tblGrid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MVP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Sharpe Opt.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FTSE 100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27/02 (réf.)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06/03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102,08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101,85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96,79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13/03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95,42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20/03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98,84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98,49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93,90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27/03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97,71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97,24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93,17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31/03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97,13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96,60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94,05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mars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−2,87%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−3,40%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−5,95%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4681728"/>
            <a:ext cx="14630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4681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MVP : +3,1pp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360920" y="4681728"/>
            <a:ext cx="1463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60920" y="4681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Sharpe : +2,5pp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Approche Markowitz — PMin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Diversification sur 7 titres · σ = 15,54%/an (&lt; FTSE 100) · Rendement = 5,27%/an · Sharpe = 0,248 · Rendement total = +49,8%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Modèle de Sharpe — Sharpe Optimal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Structure parcimonieuse (21 params) · Elton-Gruber C* = 0,054 · RTO 85% + DGE 15% · Rendement = 15,24%/an · Sharpe = 0,626 · +257% sur 10 ans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Suivi Mars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FTSE 100 : −5,95% · MVP : −2,87% (surperf. +3,1pp) · Sharpe Optimal : −3,40% (surperf. +2,5pp) · Résilience des valeurs défensives confirmée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34640"/>
            <a:ext cx="4114800" cy="34747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Perspectives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186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Rolling window · Estimateurs Ledoit-Wolf · Modèles multi-facteurs Fama-French (1993) · Contraintes de poids pour limiter les ventes à découvert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Merci pour votre attention  ·  Traore Sory Ibrahim · GMIRA Amine · BELLILI Ilian · BRADAI Selim  ·  M1 MBFA 2025-2026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Portefeuilles FTSE 100 — M1 MBFA 2025-2026</dc:title>
  <dc:subject>PptxGenJS Presentation</dc:subject>
  <dc:creator>Traore Sory Ibrahim, GMIRA Amine, BELLILI Ilian, BRADAI Selim</dc:creator>
  <cp:lastModifiedBy>Traore Sory Ibrahim, GMIRA Amine, BELLILI Ilian, BRADAI Selim</cp:lastModifiedBy>
  <cp:revision>1</cp:revision>
  <dcterms:created xsi:type="dcterms:W3CDTF">2026-04-15T17:33:55Z</dcterms:created>
  <dcterms:modified xsi:type="dcterms:W3CDTF">2026-04-15T17:33:55Z</dcterms:modified>
</cp:coreProperties>
</file>